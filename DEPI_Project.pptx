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chivo Black" charset="1" panose="020B0A03020202020B04"/>
      <p:regular r:id="rId22"/>
    </p:embeddedFont>
    <p:embeddedFont>
      <p:font typeface="DM Sans" charset="1" panose="00000000000000000000"/>
      <p:regular r:id="rId23"/>
    </p:embeddedFont>
    <p:embeddedFont>
      <p:font typeface="Open Sans" charset="1" panose="020B0606030504020204"/>
      <p:regular r:id="rId24"/>
    </p:embeddedFont>
    <p:embeddedFont>
      <p:font typeface="Open Sans Bold" charset="1" panose="020B0806030504020204"/>
      <p:regular r:id="rId25"/>
    </p:embeddedFont>
    <p:embeddedFont>
      <p:font typeface="DM Sans Bold" charset="1" panose="00000000000000000000"/>
      <p:regular r:id="rId26"/>
    </p:embeddedFont>
    <p:embeddedFont>
      <p:font typeface="Canva Sans Bold" charset="1" panose="020B08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62615" y="2078205"/>
            <a:ext cx="4410961" cy="5422769"/>
            <a:chOff x="0" y="0"/>
            <a:chExt cx="1161735" cy="14282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1735" cy="1428219"/>
            </a:xfrm>
            <a:custGeom>
              <a:avLst/>
              <a:gdLst/>
              <a:ahLst/>
              <a:cxnLst/>
              <a:rect r="r" b="b" t="t" l="l"/>
              <a:pathLst>
                <a:path h="1428219" w="1161735">
                  <a:moveTo>
                    <a:pt x="0" y="0"/>
                  </a:moveTo>
                  <a:lnTo>
                    <a:pt x="1161735" y="0"/>
                  </a:lnTo>
                  <a:lnTo>
                    <a:pt x="1161735" y="1428219"/>
                  </a:lnTo>
                  <a:lnTo>
                    <a:pt x="0" y="1428219"/>
                  </a:lnTo>
                  <a:close/>
                </a:path>
              </a:pathLst>
            </a:custGeom>
            <a:solidFill>
              <a:srgbClr val="FE41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1735" cy="1466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96601" y="2187569"/>
            <a:ext cx="1225301" cy="1028700"/>
            <a:chOff x="0" y="0"/>
            <a:chExt cx="32271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2713" cy="270933"/>
            </a:xfrm>
            <a:custGeom>
              <a:avLst/>
              <a:gdLst/>
              <a:ahLst/>
              <a:cxnLst/>
              <a:rect r="r" b="b" t="t" l="l"/>
              <a:pathLst>
                <a:path h="270933" w="322713">
                  <a:moveTo>
                    <a:pt x="0" y="0"/>
                  </a:moveTo>
                  <a:lnTo>
                    <a:pt x="322713" y="0"/>
                  </a:lnTo>
                  <a:lnTo>
                    <a:pt x="32271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E41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271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167535" y="2701919"/>
            <a:ext cx="7734240" cy="6255067"/>
          </a:xfrm>
          <a:custGeom>
            <a:avLst/>
            <a:gdLst/>
            <a:ahLst/>
            <a:cxnLst/>
            <a:rect r="r" b="b" t="t" l="l"/>
            <a:pathLst>
              <a:path h="6255067" w="7734240">
                <a:moveTo>
                  <a:pt x="0" y="0"/>
                </a:moveTo>
                <a:lnTo>
                  <a:pt x="7734241" y="0"/>
                </a:lnTo>
                <a:lnTo>
                  <a:pt x="7734241" y="6255067"/>
                </a:lnTo>
                <a:lnTo>
                  <a:pt x="0" y="6255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698349" y="8413482"/>
            <a:ext cx="6721628" cy="0"/>
          </a:xfrm>
          <a:prstGeom prst="line">
            <a:avLst/>
          </a:prstGeom>
          <a:ln cap="flat" w="19050">
            <a:solidFill>
              <a:srgbClr val="FE41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787367"/>
            <a:ext cx="644675" cy="800838"/>
          </a:xfrm>
          <a:custGeom>
            <a:avLst/>
            <a:gdLst/>
            <a:ahLst/>
            <a:cxnLst/>
            <a:rect r="r" b="b" t="t" l="l"/>
            <a:pathLst>
              <a:path h="800838" w="644675">
                <a:moveTo>
                  <a:pt x="0" y="0"/>
                </a:moveTo>
                <a:lnTo>
                  <a:pt x="644675" y="0"/>
                </a:lnTo>
                <a:lnTo>
                  <a:pt x="644675" y="800838"/>
                </a:lnTo>
                <a:lnTo>
                  <a:pt x="0" y="80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79426" y="1906755"/>
            <a:ext cx="9106802" cy="422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PENETRATION TESTING 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523204"/>
            <a:ext cx="1037321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DC-9 Machine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8349" y="7631393"/>
            <a:ext cx="11033915" cy="923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comprehensive penetration test conducted on the DC-9 machine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45675" y="2533965"/>
            <a:ext cx="7322748" cy="5219069"/>
            <a:chOff x="0" y="0"/>
            <a:chExt cx="9763664" cy="695875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66700"/>
              <a:ext cx="9763664" cy="973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00"/>
                </a:lnSpc>
              </a:pPr>
              <a:r>
                <a:rPr lang="en-US" sz="350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Ali Elsayed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96249"/>
              <a:ext cx="9763664" cy="973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00"/>
                </a:lnSpc>
              </a:pPr>
              <a:r>
                <a:rPr lang="en-US" sz="350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Ali Osama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422146"/>
              <a:ext cx="9763664" cy="973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00"/>
                </a:lnSpc>
              </a:pPr>
              <a:r>
                <a:rPr lang="en-US" sz="350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Omar Mohamed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859197"/>
              <a:ext cx="9763664" cy="973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00"/>
                </a:lnSpc>
              </a:pPr>
              <a:r>
                <a:rPr lang="en-US" sz="350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Ahmed Abdullah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985095"/>
              <a:ext cx="9763664" cy="973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00"/>
                </a:lnSpc>
              </a:pPr>
              <a:r>
                <a:rPr lang="en-US" sz="350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Mostafa Ehab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4219575"/>
            <a:ext cx="4155763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80"/>
              </a:lnSpc>
              <a:spcBef>
                <a:spcPct val="0"/>
              </a:spcBef>
            </a:pPr>
            <a:r>
              <a:rPr lang="en-US" b="true" sz="615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members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6120368" y="0"/>
            <a:ext cx="0" cy="1028700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5395" y="4429246"/>
            <a:ext cx="7378046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DC-9 machine, a vulnerable virtual environment designed to simulate real-world attacks. The goal was to identify and exploit security weaknesses to achieve root access, demonstrating the risks of unmitigated vulnerabilities.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-196601" y="4629150"/>
            <a:ext cx="1225301" cy="1028700"/>
            <a:chOff x="0" y="0"/>
            <a:chExt cx="322713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2713" cy="270933"/>
            </a:xfrm>
            <a:custGeom>
              <a:avLst/>
              <a:gdLst/>
              <a:ahLst/>
              <a:cxnLst/>
              <a:rect r="r" b="b" t="t" l="l"/>
              <a:pathLst>
                <a:path h="270933" w="322713">
                  <a:moveTo>
                    <a:pt x="0" y="0"/>
                  </a:moveTo>
                  <a:lnTo>
                    <a:pt x="322713" y="0"/>
                  </a:lnTo>
                  <a:lnTo>
                    <a:pt x="32271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E41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271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36418" y="0"/>
            <a:ext cx="7022882" cy="10287000"/>
            <a:chOff x="0" y="0"/>
            <a:chExt cx="108802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802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88028">
                  <a:moveTo>
                    <a:pt x="0" y="0"/>
                  </a:moveTo>
                  <a:lnTo>
                    <a:pt x="1088028" y="0"/>
                  </a:lnTo>
                  <a:lnTo>
                    <a:pt x="108802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6860" t="0" r="-686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424608"/>
            <a:ext cx="899816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800" spc="9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EXECUTIVE SUMMARY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74418" y="672428"/>
            <a:ext cx="394571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14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PENETRATION TESTING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8113" y="4743081"/>
            <a:ext cx="644675" cy="800838"/>
          </a:xfrm>
          <a:custGeom>
            <a:avLst/>
            <a:gdLst/>
            <a:ahLst/>
            <a:cxnLst/>
            <a:rect r="r" b="b" t="t" l="l"/>
            <a:pathLst>
              <a:path h="800838" w="644675">
                <a:moveTo>
                  <a:pt x="0" y="0"/>
                </a:moveTo>
                <a:lnTo>
                  <a:pt x="644675" y="0"/>
                </a:lnTo>
                <a:lnTo>
                  <a:pt x="644675" y="800838"/>
                </a:lnTo>
                <a:lnTo>
                  <a:pt x="0" y="80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85395" y="7521575"/>
            <a:ext cx="7151957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findings reveal critical vulnerabilities and provide actionable recommendations to enhance security.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AutoShape 12" id="12"/>
          <p:cNvSpPr/>
          <p:nvPr/>
        </p:nvSpPr>
        <p:spPr>
          <a:xfrm flipV="true">
            <a:off x="1285395" y="7042271"/>
            <a:ext cx="7400110" cy="9525"/>
          </a:xfrm>
          <a:prstGeom prst="line">
            <a:avLst/>
          </a:prstGeom>
          <a:ln cap="flat" w="19050">
            <a:solidFill>
              <a:srgbClr val="FE41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10160" y="763421"/>
            <a:ext cx="6505902" cy="1456444"/>
            <a:chOff x="0" y="0"/>
            <a:chExt cx="8674536" cy="194192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76200"/>
              <a:ext cx="8674536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9"/>
                </a:lnSpc>
              </a:pPr>
              <a:r>
                <a:rPr lang="en-US" b="true" sz="2499" spc="49" u="sng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</a:t>
              </a:r>
              <a:r>
                <a:rPr lang="en-US" b="true" sz="2499" spc="49" u="sng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ECONNAISSANCE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94480"/>
              <a:ext cx="8674536" cy="1147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b="true" sz="1599" spc="3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GATHERED SYSTEM INFO USING NMAP, NETDISCOVER, AND WEB ENUMERATION TOOLS TO IDENTIFY LIVE HOSTS, OPEN PORTS, AND WEB DIRECTORIES.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45847" y="4219575"/>
            <a:ext cx="639019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b="true" sz="6000" spc="12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METHODOLOGY 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10160" y="2924715"/>
            <a:ext cx="6505902" cy="1161169"/>
            <a:chOff x="0" y="0"/>
            <a:chExt cx="8674536" cy="154822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76200"/>
              <a:ext cx="8674536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9"/>
                </a:lnSpc>
              </a:pPr>
              <a:r>
                <a:rPr lang="en-US" b="true" sz="2499" spc="49" u="sng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VULNE</a:t>
              </a:r>
              <a:r>
                <a:rPr lang="en-US" b="true" sz="2499" spc="49" u="sng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RABILITY ANALYSIS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94480"/>
              <a:ext cx="8674536" cy="75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b="true" sz="1599" spc="3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ANALYZED INPUTS FOR SQL INJECTION, XSS, AND LOCAL FILE INCLUSION USING SQLMAP, BURP SUITE, AND FUZZING TOOLS.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10160" y="4715168"/>
            <a:ext cx="6505902" cy="1456468"/>
            <a:chOff x="0" y="0"/>
            <a:chExt cx="8674536" cy="194195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76200"/>
              <a:ext cx="8674536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9"/>
                </a:lnSpc>
              </a:pPr>
              <a:r>
                <a:rPr lang="en-US" b="true" sz="2499" spc="49" u="sng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EXPLO</a:t>
              </a:r>
              <a:r>
                <a:rPr lang="en-US" b="true" sz="2499" spc="49" u="sng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ITATION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94480"/>
              <a:ext cx="8674536" cy="1147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b="true" sz="1599" spc="3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EXECUTED ATTACKS TO EXTRACT CREDENTIALS, HIJACK SESSIONS, AND ESCALATE PRIVILEGES, INCLUDING BRUTE FORCING SSH ACCESS.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10160" y="6427194"/>
            <a:ext cx="6505902" cy="1161193"/>
            <a:chOff x="0" y="0"/>
            <a:chExt cx="8674536" cy="15482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76200"/>
              <a:ext cx="8674536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9"/>
                </a:lnSpc>
              </a:pPr>
              <a:r>
                <a:rPr lang="en-US" b="true" sz="2499" spc="49" u="sng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POST-EXPLO</a:t>
              </a:r>
              <a:r>
                <a:rPr lang="en-US" b="true" sz="2499" spc="49" u="sng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ITATION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94480"/>
              <a:ext cx="8674536" cy="753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b="true" sz="1599" spc="3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CONFIRMED ROOT ACCESS, DOCUMENTED COMMANDS AND OUTPUTS, AND ASSESSED IMPACT OF VULNERABILITIES.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10160" y="8291483"/>
            <a:ext cx="6505902" cy="1161193"/>
            <a:chOff x="0" y="0"/>
            <a:chExt cx="8674536" cy="154825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76200"/>
              <a:ext cx="8674536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9"/>
                </a:lnSpc>
              </a:pPr>
              <a:r>
                <a:rPr lang="en-US" b="true" sz="2499" spc="49" u="sng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REPOR</a:t>
              </a:r>
              <a:r>
                <a:rPr lang="en-US" b="true" sz="2499" spc="49" u="sng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TING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94480"/>
              <a:ext cx="8674536" cy="753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b="true" sz="1599" spc="3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COMPILED DETAILED FINDINGS, EVIDENCE, AND MITIGATION RECOMMENDATIONS FOR STAKEHOLDERS.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0" y="1028700"/>
            <a:ext cx="242501" cy="7593725"/>
            <a:chOff x="0" y="0"/>
            <a:chExt cx="323335" cy="10124966"/>
          </a:xfrm>
        </p:grpSpPr>
        <p:sp>
          <p:nvSpPr>
            <p:cNvPr name="AutoShape 19" id="19"/>
            <p:cNvSpPr/>
            <p:nvPr/>
          </p:nvSpPr>
          <p:spPr>
            <a:xfrm rot="0">
              <a:off x="139859" y="242501"/>
              <a:ext cx="43618" cy="9639963"/>
            </a:xfrm>
            <a:prstGeom prst="rect">
              <a:avLst/>
            </a:prstGeom>
            <a:solidFill>
              <a:srgbClr val="FFFFFF"/>
            </a:solidFill>
          </p:spPr>
        </p:sp>
        <p:grpSp>
          <p:nvGrpSpPr>
            <p:cNvPr name="Group 20" id="20"/>
            <p:cNvGrpSpPr/>
            <p:nvPr/>
          </p:nvGrpSpPr>
          <p:grpSpPr>
            <a:xfrm rot="0">
              <a:off x="0" y="0"/>
              <a:ext cx="323335" cy="323335"/>
              <a:chOff x="0" y="0"/>
              <a:chExt cx="6350000" cy="6350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2450408"/>
              <a:ext cx="323335" cy="323335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4900815"/>
              <a:ext cx="323335" cy="323335"/>
              <a:chOff x="0" y="0"/>
              <a:chExt cx="6350000" cy="635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7351223"/>
              <a:ext cx="323335" cy="323335"/>
              <a:chOff x="0" y="0"/>
              <a:chExt cx="6350000" cy="6350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9801631"/>
              <a:ext cx="323335" cy="323335"/>
              <a:chOff x="0" y="0"/>
              <a:chExt cx="6350000" cy="6350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4310286"/>
            <a:ext cx="8094230" cy="4645343"/>
          </a:xfrm>
          <a:prstGeom prst="rect">
            <a:avLst/>
          </a:prstGeom>
          <a:solidFill>
            <a:srgbClr val="22191E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2509492" y="1361296"/>
            <a:ext cx="13269016" cy="233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359"/>
              </a:lnSpc>
            </a:pPr>
            <a:r>
              <a:rPr lang="en-US" b="true" sz="7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Enumeration &amp; Vulnerability Discovery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064941" y="4633642"/>
            <a:ext cx="6505695" cy="3998632"/>
            <a:chOff x="0" y="0"/>
            <a:chExt cx="8674260" cy="533150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23048"/>
              <a:ext cx="8674260" cy="4208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21"/>
                </a:lnSpc>
              </a:pPr>
              <a:r>
                <a:rPr lang="en-US" sz="201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Open ports: HTTP (80), SSH (22) behind port knocking</a:t>
              </a:r>
            </a:p>
            <a:p>
              <a:pPr algn="ctr" marL="0" indent="0" lvl="0">
                <a:lnSpc>
                  <a:spcPts val="2821"/>
                </a:lnSpc>
              </a:pPr>
            </a:p>
            <a:p>
              <a:pPr algn="ctr" marL="0" indent="0" lvl="0">
                <a:lnSpc>
                  <a:spcPts val="2821"/>
                </a:lnSpc>
              </a:pPr>
              <a:r>
                <a:rPr lang="en-US" sz="201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SQL Injection in search.php</a:t>
              </a:r>
            </a:p>
            <a:p>
              <a:pPr algn="ctr" marL="0" indent="0" lvl="0">
                <a:lnSpc>
                  <a:spcPts val="2821"/>
                </a:lnSpc>
              </a:pPr>
            </a:p>
            <a:p>
              <a:pPr algn="ctr" marL="0" indent="0" lvl="0">
                <a:lnSpc>
                  <a:spcPts val="2821"/>
                </a:lnSpc>
              </a:pPr>
              <a:r>
                <a:rPr lang="en-US" sz="201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Stored XSS in manage.php admin interface</a:t>
              </a:r>
            </a:p>
            <a:p>
              <a:pPr algn="ctr" marL="0" indent="0" lvl="0">
                <a:lnSpc>
                  <a:spcPts val="2821"/>
                </a:lnSpc>
              </a:pPr>
            </a:p>
            <a:p>
              <a:pPr algn="ctr" marL="0" indent="0" lvl="0">
                <a:lnSpc>
                  <a:spcPts val="2821"/>
                </a:lnSpc>
              </a:pPr>
              <a:r>
                <a:rPr lang="en-US" sz="201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Local File Inclusion via file parameter</a:t>
              </a:r>
            </a:p>
            <a:p>
              <a:pPr algn="ctr" marL="0" indent="0" lvl="0">
                <a:lnSpc>
                  <a:spcPts val="2821"/>
                </a:lnSpc>
              </a:pPr>
            </a:p>
            <a:p>
              <a:pPr algn="ctr" marL="0" indent="0" lvl="0">
                <a:lnSpc>
                  <a:spcPts val="2821"/>
                </a:lnSpc>
              </a:pPr>
              <a:r>
                <a:rPr lang="en-US" sz="201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Privilege escalation via sudo binary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8674260" cy="754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14"/>
                </a:lnSpc>
              </a:pPr>
              <a:r>
                <a:rPr lang="en-US" b="true" sz="343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Findings</a:t>
              </a:r>
            </a:p>
          </p:txBody>
        </p:sp>
      </p:grpSp>
      <p:sp>
        <p:nvSpPr>
          <p:cNvPr name="AutoShape 7" id="7"/>
          <p:cNvSpPr/>
          <p:nvPr/>
        </p:nvSpPr>
        <p:spPr>
          <a:xfrm rot="0">
            <a:off x="9531350" y="4310286"/>
            <a:ext cx="7257600" cy="4645343"/>
          </a:xfrm>
          <a:prstGeom prst="rect">
            <a:avLst/>
          </a:prstGeom>
          <a:solidFill>
            <a:srgbClr val="22191E"/>
          </a:solidFill>
        </p:spPr>
      </p:sp>
      <p:grpSp>
        <p:nvGrpSpPr>
          <p:cNvPr name="Group 8" id="8"/>
          <p:cNvGrpSpPr/>
          <p:nvPr/>
        </p:nvGrpSpPr>
        <p:grpSpPr>
          <a:xfrm rot="0">
            <a:off x="10368662" y="4679761"/>
            <a:ext cx="5665977" cy="3906393"/>
            <a:chOff x="0" y="0"/>
            <a:chExt cx="7554636" cy="520852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009735"/>
              <a:ext cx="7554636" cy="4198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27"/>
                </a:lnSpc>
              </a:pPr>
              <a:r>
                <a:rPr lang="en-US" sz="201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Nmap, Netdiscover for network scanning</a:t>
              </a:r>
            </a:p>
            <a:p>
              <a:pPr algn="ctr" marL="0" indent="0" lvl="0">
                <a:lnSpc>
                  <a:spcPts val="2827"/>
                </a:lnSpc>
              </a:pPr>
            </a:p>
            <a:p>
              <a:pPr algn="ctr" marL="0" indent="0" lvl="0">
                <a:lnSpc>
                  <a:spcPts val="2827"/>
                </a:lnSpc>
              </a:pPr>
              <a:r>
                <a:rPr lang="en-US" sz="201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Gobuster, Dirb for directory brute forcing</a:t>
              </a:r>
            </a:p>
            <a:p>
              <a:pPr algn="ctr" marL="0" indent="0" lvl="0">
                <a:lnSpc>
                  <a:spcPts val="2827"/>
                </a:lnSpc>
              </a:pPr>
            </a:p>
            <a:p>
              <a:pPr algn="ctr" marL="0" indent="0" lvl="0">
                <a:lnSpc>
                  <a:spcPts val="2827"/>
                </a:lnSpc>
              </a:pPr>
              <a:r>
                <a:rPr lang="en-US" sz="201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Nikto, Skipfish for web vulnerability scanning</a:t>
              </a:r>
            </a:p>
            <a:p>
              <a:pPr algn="ctr" marL="0" indent="0" lvl="0">
                <a:lnSpc>
                  <a:spcPts val="2827"/>
                </a:lnSpc>
              </a:pPr>
            </a:p>
            <a:p>
              <a:pPr algn="ctr" marL="0" indent="0" lvl="0">
                <a:lnSpc>
                  <a:spcPts val="2827"/>
                </a:lnSpc>
              </a:pPr>
              <a:r>
                <a:rPr lang="en-US" sz="201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Burp Suite for HTTP request manipulation</a:t>
              </a:r>
            </a:p>
            <a:p>
              <a:pPr algn="ctr" marL="0" indent="0" lvl="0">
                <a:lnSpc>
                  <a:spcPts val="2827"/>
                </a:lnSpc>
              </a:pPr>
            </a:p>
            <a:p>
              <a:pPr algn="ctr" marL="0" indent="0" lvl="0">
                <a:lnSpc>
                  <a:spcPts val="2827"/>
                </a:lnSpc>
              </a:pPr>
              <a:r>
                <a:rPr lang="en-US" sz="201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Sqlmap for SQL Injection detection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7554636" cy="7629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16"/>
                </a:lnSpc>
              </a:pPr>
              <a:r>
                <a:rPr lang="en-US" b="true" sz="344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Tools Used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19297" y="1825071"/>
            <a:ext cx="1064217" cy="1064217"/>
          </a:xfrm>
          <a:custGeom>
            <a:avLst/>
            <a:gdLst/>
            <a:ahLst/>
            <a:cxnLst/>
            <a:rect r="r" b="b" t="t" l="l"/>
            <a:pathLst>
              <a:path h="1064217" w="1064217">
                <a:moveTo>
                  <a:pt x="0" y="0"/>
                </a:moveTo>
                <a:lnTo>
                  <a:pt x="1064217" y="0"/>
                </a:lnTo>
                <a:lnTo>
                  <a:pt x="1064217" y="1064218"/>
                </a:lnTo>
                <a:lnTo>
                  <a:pt x="0" y="1064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19297" y="4365875"/>
            <a:ext cx="1064217" cy="1064217"/>
          </a:xfrm>
          <a:custGeom>
            <a:avLst/>
            <a:gdLst/>
            <a:ahLst/>
            <a:cxnLst/>
            <a:rect r="r" b="b" t="t" l="l"/>
            <a:pathLst>
              <a:path h="1064217" w="1064217">
                <a:moveTo>
                  <a:pt x="0" y="0"/>
                </a:moveTo>
                <a:lnTo>
                  <a:pt x="1064217" y="0"/>
                </a:lnTo>
                <a:lnTo>
                  <a:pt x="1064217" y="1064217"/>
                </a:lnTo>
                <a:lnTo>
                  <a:pt x="0" y="1064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19297" y="7290681"/>
            <a:ext cx="1064217" cy="1064217"/>
          </a:xfrm>
          <a:custGeom>
            <a:avLst/>
            <a:gdLst/>
            <a:ahLst/>
            <a:cxnLst/>
            <a:rect r="r" b="b" t="t" l="l"/>
            <a:pathLst>
              <a:path h="1064217" w="1064217">
                <a:moveTo>
                  <a:pt x="0" y="0"/>
                </a:moveTo>
                <a:lnTo>
                  <a:pt x="1064217" y="0"/>
                </a:lnTo>
                <a:lnTo>
                  <a:pt x="1064217" y="1064217"/>
                </a:lnTo>
                <a:lnTo>
                  <a:pt x="0" y="1064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2700881"/>
            <a:ext cx="7324149" cy="3918980"/>
            <a:chOff x="0" y="0"/>
            <a:chExt cx="9765532" cy="522530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23825"/>
              <a:ext cx="9765532" cy="4224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415"/>
                </a:lnSpc>
              </a:pPr>
              <a:r>
                <a:rPr lang="en-US" b="true" sz="4277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Exploitation 1: Insecure SSH Access, Privilege Escalation, and Persistence Chain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484473"/>
              <a:ext cx="9765532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0"/>
                </a:lnSpc>
              </a:pPr>
              <a:r>
                <a:rPr lang="en-US" sz="35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Severity: Critical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292056" y="1796496"/>
            <a:ext cx="6174492" cy="144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Exploitation Chain:</a:t>
            </a:r>
          </a:p>
          <a:p>
            <a:pPr algn="l" marL="0" indent="0" lvl="0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Insecure Port Knocking: Easily guessable sequence (7469, 8475, 9842) exposed SSH port.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05100" y="3978504"/>
            <a:ext cx="6325218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Weak SSH Credentials: Brute-forced access using Hydra (user: fredf, password: B4-Tru3-001).</a:t>
            </a:r>
          </a:p>
          <a:p>
            <a:pPr algn="l" marL="0" indent="0" lvl="0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Privilege Escalation: fredf had sudo access to a binary that overwrote /etc/passwd to create a root user (hacker).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05100" y="6884264"/>
            <a:ext cx="6720874" cy="144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Persistence Techniques:</a:t>
            </a:r>
          </a:p>
          <a:p>
            <a:pPr algn="l" marL="0" indent="0" lvl="0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Injected SSH key into /root/.ssh/authorized_keys.</a:t>
            </a:r>
          </a:p>
          <a:p>
            <a:pPr algn="l" marL="0" indent="0" lvl="0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Created reverse shell via cron job.</a:t>
            </a:r>
          </a:p>
          <a:p>
            <a:pPr algn="l" marL="0" indent="0" lvl="0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Set bashrc alias to trigger reverse shell on sudo use.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38378" y="365125"/>
            <a:ext cx="1307211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&amp; Proof</a:t>
            </a:r>
            <a:r>
              <a:rPr lang="en-US" b="true" sz="6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of Exploitation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2362" y="2837613"/>
            <a:ext cx="14169643" cy="6767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5"/>
              </a:lnSpc>
              <a:spcBef>
                <a:spcPct val="0"/>
              </a:spcBef>
            </a:pPr>
            <a:r>
              <a:rPr lang="en-US" sz="38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Impact:</a:t>
            </a:r>
          </a:p>
          <a:p>
            <a:pPr algn="l">
              <a:lnSpc>
                <a:spcPts val="5345"/>
              </a:lnSpc>
              <a:spcBef>
                <a:spcPct val="0"/>
              </a:spcBef>
            </a:pPr>
            <a:r>
              <a:rPr lang="en-US" sz="38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Full root access achieved.</a:t>
            </a:r>
          </a:p>
          <a:p>
            <a:pPr algn="l">
              <a:lnSpc>
                <a:spcPts val="5345"/>
              </a:lnSpc>
              <a:spcBef>
                <a:spcPct val="0"/>
              </a:spcBef>
            </a:pPr>
            <a:r>
              <a:rPr lang="en-US" sz="38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Persistent control established.</a:t>
            </a:r>
          </a:p>
          <a:p>
            <a:pPr algn="l">
              <a:lnSpc>
                <a:spcPts val="5345"/>
              </a:lnSpc>
              <a:spcBef>
                <a:spcPct val="0"/>
              </a:spcBef>
            </a:pPr>
            <a:r>
              <a:rPr lang="en-US" sz="38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Enabled future unauthorized logins without re-exploitation.</a:t>
            </a:r>
          </a:p>
          <a:p>
            <a:pPr algn="l">
              <a:lnSpc>
                <a:spcPts val="5345"/>
              </a:lnSpc>
              <a:spcBef>
                <a:spcPct val="0"/>
              </a:spcBef>
            </a:pPr>
          </a:p>
          <a:p>
            <a:pPr algn="l">
              <a:lnSpc>
                <a:spcPts val="5345"/>
              </a:lnSpc>
              <a:spcBef>
                <a:spcPct val="0"/>
              </a:spcBef>
            </a:pPr>
            <a:r>
              <a:rPr lang="en-US" sz="38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Proof of Concept:</a:t>
            </a:r>
          </a:p>
          <a:p>
            <a:pPr algn="l">
              <a:lnSpc>
                <a:spcPts val="5345"/>
              </a:lnSpc>
              <a:spcBef>
                <a:spcPct val="0"/>
              </a:spcBef>
            </a:pPr>
            <a:r>
              <a:rPr lang="en-US" sz="38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Port scan revealed filtered SSH → bypassed with port knocking.</a:t>
            </a:r>
          </a:p>
          <a:p>
            <a:pPr algn="l">
              <a:lnSpc>
                <a:spcPts val="5345"/>
              </a:lnSpc>
              <a:spcBef>
                <a:spcPct val="0"/>
              </a:spcBef>
            </a:pPr>
            <a:r>
              <a:rPr lang="en-US" sz="38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Hydra used for SSH brute-force.</a:t>
            </a:r>
          </a:p>
          <a:p>
            <a:pPr algn="l">
              <a:lnSpc>
                <a:spcPts val="5345"/>
              </a:lnSpc>
              <a:spcBef>
                <a:spcPct val="0"/>
              </a:spcBef>
            </a:pPr>
            <a:r>
              <a:rPr lang="en-US" sz="38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Privileged binary used to inject new root user.</a:t>
            </a:r>
          </a:p>
          <a:p>
            <a:pPr algn="l">
              <a:lnSpc>
                <a:spcPts val="5345"/>
              </a:lnSpc>
              <a:spcBef>
                <a:spcPct val="0"/>
              </a:spcBef>
            </a:pPr>
            <a:r>
              <a:rPr lang="en-US" sz="38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SSH key injection + cron job for long-term access.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73664"/>
            <a:ext cx="10596417" cy="148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6"/>
              </a:lnSpc>
            </a:pPr>
            <a:r>
              <a:rPr lang="en-US" b="true" sz="5314" u="non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Exploitation 2 – Web Application Vulnerabilities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78753" y="3881428"/>
            <a:ext cx="7893766" cy="147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1"/>
              </a:lnSpc>
              <a:spcBef>
                <a:spcPct val="0"/>
              </a:spcBef>
            </a:pPr>
            <a:r>
              <a:rPr lang="en-US" sz="142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Critical Vulnerabilities Identified:</a:t>
            </a:r>
          </a:p>
          <a:p>
            <a:pPr algn="l" marL="0" indent="0" lvl="0">
              <a:lnSpc>
                <a:spcPts val="2001"/>
              </a:lnSpc>
              <a:spcBef>
                <a:spcPct val="0"/>
              </a:spcBef>
            </a:pPr>
            <a:r>
              <a:rPr lang="en-US" sz="142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SQL Injection (SQLi)</a:t>
            </a:r>
          </a:p>
          <a:p>
            <a:pPr algn="l" marL="0" indent="0" lvl="0">
              <a:lnSpc>
                <a:spcPts val="2001"/>
              </a:lnSpc>
              <a:spcBef>
                <a:spcPct val="0"/>
              </a:spcBef>
            </a:pPr>
            <a:r>
              <a:rPr lang="en-US" sz="142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• Found in search.php</a:t>
            </a:r>
          </a:p>
          <a:p>
            <a:pPr algn="l" marL="0" indent="0" lvl="0">
              <a:lnSpc>
                <a:spcPts val="2001"/>
              </a:lnSpc>
              <a:spcBef>
                <a:spcPct val="0"/>
              </a:spcBef>
            </a:pPr>
            <a:r>
              <a:rPr lang="en-US" sz="142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• Allowed full database dump (usernames, password hashes)</a:t>
            </a:r>
          </a:p>
          <a:p>
            <a:pPr algn="l" marL="0" indent="0" lvl="0">
              <a:lnSpc>
                <a:spcPts val="2001"/>
              </a:lnSpc>
              <a:spcBef>
                <a:spcPct val="0"/>
              </a:spcBef>
            </a:pPr>
            <a:r>
              <a:rPr lang="en-US" sz="142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• Cracked admin credentials (admin: transorbital1)</a:t>
            </a:r>
          </a:p>
          <a:p>
            <a:pPr algn="l" marL="0" indent="0" lvl="0">
              <a:lnSpc>
                <a:spcPts val="2001"/>
              </a:lnSpc>
              <a:spcBef>
                <a:spcPct val="0"/>
              </a:spcBef>
            </a:pPr>
            <a:r>
              <a:rPr lang="en-US" sz="142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• Gained backend access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728054">
            <a:off x="1291560" y="3878291"/>
            <a:ext cx="1524332" cy="1513020"/>
          </a:xfrm>
          <a:custGeom>
            <a:avLst/>
            <a:gdLst/>
            <a:ahLst/>
            <a:cxnLst/>
            <a:rect r="r" b="b" t="t" l="l"/>
            <a:pathLst>
              <a:path h="1513020" w="1524332">
                <a:moveTo>
                  <a:pt x="0" y="0"/>
                </a:moveTo>
                <a:lnTo>
                  <a:pt x="1524333" y="0"/>
                </a:lnTo>
                <a:lnTo>
                  <a:pt x="1524333" y="1513020"/>
                </a:lnTo>
                <a:lnTo>
                  <a:pt x="0" y="1513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28054">
            <a:off x="1291560" y="5933057"/>
            <a:ext cx="1524332" cy="1513020"/>
          </a:xfrm>
          <a:custGeom>
            <a:avLst/>
            <a:gdLst/>
            <a:ahLst/>
            <a:cxnLst/>
            <a:rect r="r" b="b" t="t" l="l"/>
            <a:pathLst>
              <a:path h="1513020" w="1524332">
                <a:moveTo>
                  <a:pt x="0" y="0"/>
                </a:moveTo>
                <a:lnTo>
                  <a:pt x="1524333" y="0"/>
                </a:lnTo>
                <a:lnTo>
                  <a:pt x="1524333" y="1513020"/>
                </a:lnTo>
                <a:lnTo>
                  <a:pt x="0" y="1513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728054">
            <a:off x="1291560" y="7987824"/>
            <a:ext cx="1524332" cy="1513020"/>
          </a:xfrm>
          <a:custGeom>
            <a:avLst/>
            <a:gdLst/>
            <a:ahLst/>
            <a:cxnLst/>
            <a:rect r="r" b="b" t="t" l="l"/>
            <a:pathLst>
              <a:path h="1513020" w="1524332">
                <a:moveTo>
                  <a:pt x="0" y="0"/>
                </a:moveTo>
                <a:lnTo>
                  <a:pt x="1524333" y="0"/>
                </a:lnTo>
                <a:lnTo>
                  <a:pt x="1524333" y="1513020"/>
                </a:lnTo>
                <a:lnTo>
                  <a:pt x="0" y="1513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14767" y="995553"/>
            <a:ext cx="7910215" cy="8776164"/>
            <a:chOff x="0" y="0"/>
            <a:chExt cx="5510530" cy="61137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5720" y="49530"/>
              <a:ext cx="5420360" cy="6014720"/>
            </a:xfrm>
            <a:custGeom>
              <a:avLst/>
              <a:gdLst/>
              <a:ahLst/>
              <a:cxnLst/>
              <a:rect r="r" b="b" t="t" l="l"/>
              <a:pathLst>
                <a:path h="6014720" w="5420360">
                  <a:moveTo>
                    <a:pt x="5148580" y="3408680"/>
                  </a:moveTo>
                  <a:lnTo>
                    <a:pt x="5149850" y="3406140"/>
                  </a:lnTo>
                  <a:cubicBezTo>
                    <a:pt x="5322570" y="3082290"/>
                    <a:pt x="5420360" y="2711450"/>
                    <a:pt x="5420360" y="2319020"/>
                  </a:cubicBezTo>
                  <a:cubicBezTo>
                    <a:pt x="5420360" y="1038860"/>
                    <a:pt x="4381500" y="0"/>
                    <a:pt x="3101340" y="0"/>
                  </a:cubicBezTo>
                  <a:cubicBezTo>
                    <a:pt x="2259330" y="0"/>
                    <a:pt x="1521460" y="449580"/>
                    <a:pt x="1115060" y="1121410"/>
                  </a:cubicBezTo>
                  <a:cubicBezTo>
                    <a:pt x="1094740" y="1155700"/>
                    <a:pt x="1075690" y="1188720"/>
                    <a:pt x="1056640" y="1224280"/>
                  </a:cubicBezTo>
                  <a:lnTo>
                    <a:pt x="328930" y="2503170"/>
                  </a:lnTo>
                  <a:cubicBezTo>
                    <a:pt x="308610" y="2536190"/>
                    <a:pt x="290830" y="2569210"/>
                    <a:pt x="271780" y="2603500"/>
                  </a:cubicBezTo>
                  <a:lnTo>
                    <a:pt x="271780" y="2604770"/>
                  </a:lnTo>
                  <a:cubicBezTo>
                    <a:pt x="97790" y="2929890"/>
                    <a:pt x="0" y="3300730"/>
                    <a:pt x="0" y="3695700"/>
                  </a:cubicBezTo>
                  <a:cubicBezTo>
                    <a:pt x="0" y="4975860"/>
                    <a:pt x="1038860" y="6014720"/>
                    <a:pt x="2319020" y="6014720"/>
                  </a:cubicBezTo>
                  <a:cubicBezTo>
                    <a:pt x="3243580" y="6014720"/>
                    <a:pt x="4042410" y="5472430"/>
                    <a:pt x="4414520" y="4688840"/>
                  </a:cubicBezTo>
                  <a:lnTo>
                    <a:pt x="5077460" y="3533140"/>
                  </a:lnTo>
                  <a:cubicBezTo>
                    <a:pt x="5101590" y="3492500"/>
                    <a:pt x="5125720" y="3450590"/>
                    <a:pt x="5148580" y="3408680"/>
                  </a:cubicBezTo>
                  <a:close/>
                </a:path>
              </a:pathLst>
            </a:custGeom>
            <a:blipFill>
              <a:blip r:embed="rId4"/>
              <a:stretch>
                <a:fillRect l="-26221" t="0" r="-2622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078753" y="6165620"/>
            <a:ext cx="7893766" cy="10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1"/>
              </a:lnSpc>
              <a:spcBef>
                <a:spcPct val="0"/>
              </a:spcBef>
            </a:pPr>
            <a:r>
              <a:rPr lang="en-US" sz="1494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Stored Cross-Site Scripting (XSS)</a:t>
            </a:r>
          </a:p>
          <a:p>
            <a:pPr algn="l" marL="0" indent="0" lvl="0">
              <a:lnSpc>
                <a:spcPts val="2091"/>
              </a:lnSpc>
              <a:spcBef>
                <a:spcPct val="0"/>
              </a:spcBef>
            </a:pPr>
            <a:r>
              <a:rPr lang="en-US" sz="1494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• Found in manage.php</a:t>
            </a:r>
          </a:p>
          <a:p>
            <a:pPr algn="l" marL="0" indent="0" lvl="0">
              <a:lnSpc>
                <a:spcPts val="2091"/>
              </a:lnSpc>
              <a:spcBef>
                <a:spcPct val="0"/>
              </a:spcBef>
            </a:pPr>
            <a:r>
              <a:rPr lang="en-US" sz="1494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• Input not sanitized – stored in database</a:t>
            </a:r>
          </a:p>
          <a:p>
            <a:pPr algn="l" marL="0" indent="0" lvl="0">
              <a:lnSpc>
                <a:spcPts val="2091"/>
              </a:lnSpc>
              <a:spcBef>
                <a:spcPct val="0"/>
              </a:spcBef>
            </a:pPr>
            <a:r>
              <a:rPr lang="en-US" sz="1494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• Could hijack user sessions, steal cookies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78753" y="8220386"/>
            <a:ext cx="7893766" cy="10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1"/>
              </a:lnSpc>
              <a:spcBef>
                <a:spcPct val="0"/>
              </a:spcBef>
            </a:pPr>
            <a:r>
              <a:rPr lang="en-US" sz="1494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Local File Inclusion (LFI)</a:t>
            </a:r>
          </a:p>
          <a:p>
            <a:pPr algn="l" marL="0" indent="0" lvl="0">
              <a:lnSpc>
                <a:spcPts val="2091"/>
              </a:lnSpc>
              <a:spcBef>
                <a:spcPct val="0"/>
              </a:spcBef>
            </a:pPr>
            <a:r>
              <a:rPr lang="en-US" sz="1494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• Exploitable file parameter</a:t>
            </a:r>
          </a:p>
          <a:p>
            <a:pPr algn="l" marL="0" indent="0" lvl="0">
              <a:lnSpc>
                <a:spcPts val="2091"/>
              </a:lnSpc>
              <a:spcBef>
                <a:spcPct val="0"/>
              </a:spcBef>
            </a:pPr>
            <a:r>
              <a:rPr lang="en-US" sz="1494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• Allowed access to sensitive files (e.g., /etc/passwd)</a:t>
            </a:r>
          </a:p>
          <a:p>
            <a:pPr algn="l" marL="0" indent="0" lvl="0">
              <a:lnSpc>
                <a:spcPts val="2091"/>
              </a:lnSpc>
              <a:spcBef>
                <a:spcPct val="0"/>
              </a:spcBef>
            </a:pPr>
            <a:r>
              <a:rPr lang="en-US" sz="1494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• Used for user enumeration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3815" y="649645"/>
            <a:ext cx="10755585" cy="8987710"/>
            <a:chOff x="0" y="0"/>
            <a:chExt cx="14340780" cy="1198361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893714"/>
              <a:ext cx="14340780" cy="808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99"/>
                </a:lnSpc>
              </a:pPr>
              <a:r>
                <a:rPr lang="en-US" sz="3082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Techniques Used:</a:t>
              </a:r>
            </a:p>
            <a:p>
              <a:pPr algn="l" marL="0" indent="0" lvl="0">
                <a:lnSpc>
                  <a:spcPts val="3699"/>
                </a:lnSpc>
              </a:pPr>
            </a:p>
            <a:p>
              <a:pPr algn="l" marL="665538" indent="-332769" lvl="1">
                <a:lnSpc>
                  <a:spcPts val="3699"/>
                </a:lnSpc>
                <a:buFont typeface="Arial"/>
                <a:buChar char="•"/>
              </a:pPr>
              <a:r>
                <a:rPr lang="en-US" sz="3082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Sqlmap for automating SQLi discovery and data extraction</a:t>
              </a:r>
            </a:p>
            <a:p>
              <a:pPr algn="l" marL="665538" indent="-332769" lvl="1">
                <a:lnSpc>
                  <a:spcPts val="3699"/>
                </a:lnSpc>
                <a:buFont typeface="Arial"/>
                <a:buChar char="•"/>
              </a:pPr>
              <a:r>
                <a:rPr lang="en-US" sz="3082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Burp Suite to intercept and analyze requests</a:t>
              </a:r>
            </a:p>
            <a:p>
              <a:pPr algn="l" marL="665538" indent="-332769" lvl="1">
                <a:lnSpc>
                  <a:spcPts val="3699"/>
                </a:lnSpc>
                <a:buFont typeface="Arial"/>
                <a:buChar char="•"/>
              </a:pPr>
              <a:r>
                <a:rPr lang="en-US" sz="3082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Wfuzz/Ffuf for parameter fuzzing and LFI detection</a:t>
              </a:r>
            </a:p>
            <a:p>
              <a:pPr algn="l" marL="0" indent="0" lvl="0">
                <a:lnSpc>
                  <a:spcPts val="3699"/>
                </a:lnSpc>
              </a:pPr>
            </a:p>
            <a:p>
              <a:pPr algn="l" marL="0" indent="0" lvl="0">
                <a:lnSpc>
                  <a:spcPts val="3699"/>
                </a:lnSpc>
              </a:pPr>
              <a:r>
                <a:rPr lang="en-US" sz="3082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Impact:</a:t>
              </a:r>
            </a:p>
            <a:p>
              <a:pPr algn="l" marL="665538" indent="-332769" lvl="1">
                <a:lnSpc>
                  <a:spcPts val="3699"/>
                </a:lnSpc>
                <a:buFont typeface="Arial"/>
                <a:buChar char="•"/>
              </a:pPr>
            </a:p>
            <a:p>
              <a:pPr algn="l" marL="665538" indent="-332769" lvl="1">
                <a:lnSpc>
                  <a:spcPts val="3699"/>
                </a:lnSpc>
                <a:buFont typeface="Arial"/>
                <a:buChar char="•"/>
              </a:pPr>
              <a:r>
                <a:rPr lang="en-US" sz="3082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Credential theft and admin takeover</a:t>
              </a:r>
            </a:p>
            <a:p>
              <a:pPr algn="l" marL="665538" indent="-332769" lvl="1">
                <a:lnSpc>
                  <a:spcPts val="3699"/>
                </a:lnSpc>
                <a:buFont typeface="Arial"/>
                <a:buChar char="•"/>
              </a:pPr>
              <a:r>
                <a:rPr lang="en-US" sz="3082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Sensitive file disclosure via LFI</a:t>
              </a:r>
            </a:p>
            <a:p>
              <a:pPr algn="l" marL="665538" indent="-332769" lvl="1">
                <a:lnSpc>
                  <a:spcPts val="3699"/>
                </a:lnSpc>
                <a:buFont typeface="Arial"/>
                <a:buChar char="•"/>
              </a:pPr>
              <a:r>
                <a:rPr lang="en-US" sz="3082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Session hijacking through XSS</a:t>
              </a:r>
            </a:p>
            <a:p>
              <a:pPr algn="l" marL="665538" indent="-332769" lvl="1">
                <a:lnSpc>
                  <a:spcPts val="3699"/>
                </a:lnSpc>
                <a:buFont typeface="Arial"/>
                <a:buChar char="•"/>
              </a:pPr>
              <a:r>
                <a:rPr lang="en-US" sz="3082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Gateway to further exploitation and privilege escalation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76225"/>
              <a:ext cx="9039373" cy="3122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607"/>
                </a:lnSpc>
              </a:pPr>
              <a:r>
                <a:rPr lang="en-US" b="true" sz="9563" strike="noStrike" u="non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Methods and Impact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704643"/>
            <a:ext cx="18288049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4619625" y="-54003"/>
            <a:ext cx="0" cy="1039500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883264" cy="10287000"/>
            <a:chOff x="0" y="0"/>
            <a:chExt cx="812800" cy="1421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421196"/>
            </a:xfrm>
            <a:custGeom>
              <a:avLst/>
              <a:gdLst/>
              <a:ahLst/>
              <a:cxnLst/>
              <a:rect r="r" b="b" t="t" l="l"/>
              <a:pathLst>
                <a:path h="142119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21196"/>
                  </a:lnTo>
                  <a:lnTo>
                    <a:pt x="0" y="1421196"/>
                  </a:lnTo>
                  <a:close/>
                </a:path>
              </a:pathLst>
            </a:custGeom>
            <a:blipFill>
              <a:blip r:embed="rId2"/>
              <a:stretch>
                <a:fillRect l="-77165" t="0" r="-77165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77990" y="1154617"/>
            <a:ext cx="9466505" cy="262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3"/>
              </a:lnSpc>
            </a:pPr>
            <a:r>
              <a:rPr lang="en-US" b="true" sz="652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Exploitation 3 – Admin Panel Abuse &amp; Stored XSS</a:t>
            </a:r>
          </a:p>
        </p:txBody>
      </p:sp>
      <p:sp>
        <p:nvSpPr>
          <p:cNvPr name="AutoShape 5" id="5"/>
          <p:cNvSpPr/>
          <p:nvPr/>
        </p:nvSpPr>
        <p:spPr>
          <a:xfrm>
            <a:off x="7377990" y="4597968"/>
            <a:ext cx="952642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377990" y="5407593"/>
            <a:ext cx="4596066" cy="4393145"/>
            <a:chOff x="0" y="0"/>
            <a:chExt cx="6128088" cy="585752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6128088" cy="169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71"/>
                </a:lnSpc>
              </a:pPr>
              <a:r>
                <a:rPr lang="en-US" b="true" sz="247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Focus: Stored XSS in Admin Panel (manage.php)</a:t>
              </a:r>
            </a:p>
            <a:p>
              <a:pPr algn="l" marL="0" indent="0" lvl="0">
                <a:lnSpc>
                  <a:spcPts val="3471"/>
                </a:lnSpc>
              </a:pPr>
              <a:r>
                <a:rPr lang="en-US" b="true" sz="247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Exploit Details: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041475"/>
              <a:ext cx="6128088" cy="3816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02591" indent="-251296" lvl="1">
                <a:lnSpc>
                  <a:spcPts val="3259"/>
                </a:lnSpc>
                <a:buFont typeface="Arial"/>
                <a:buChar char="•"/>
              </a:pPr>
              <a:r>
                <a:rPr lang="en-US" sz="232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Admin interface trusted input from other admins without filtering.</a:t>
              </a:r>
            </a:p>
            <a:p>
              <a:pPr algn="l" marL="502591" indent="-251296" lvl="1">
                <a:lnSpc>
                  <a:spcPts val="3259"/>
                </a:lnSpc>
                <a:buFont typeface="Arial"/>
                <a:buChar char="•"/>
              </a:pPr>
              <a:r>
                <a:rPr lang="en-US" sz="232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Malicious script stored directly in the database.</a:t>
              </a:r>
            </a:p>
            <a:p>
              <a:pPr algn="l" marL="502591" indent="-251296" lvl="1">
                <a:lnSpc>
                  <a:spcPts val="3259"/>
                </a:lnSpc>
                <a:buFont typeface="Arial"/>
                <a:buChar char="•"/>
              </a:pPr>
              <a:r>
                <a:rPr lang="en-US" sz="232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On page load, script executed in browser context.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00933" y="5407593"/>
            <a:ext cx="5385538" cy="4151789"/>
            <a:chOff x="0" y="0"/>
            <a:chExt cx="7180718" cy="553571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7180718" cy="6263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68"/>
                </a:lnSpc>
              </a:pPr>
              <a:r>
                <a:rPr lang="en-US" b="true" sz="2905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Attack Scenario: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34954"/>
              <a:ext cx="7180718" cy="4500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22000" indent="-261000" lvl="1">
                <a:lnSpc>
                  <a:spcPts val="3384"/>
                </a:lnSpc>
                <a:buFont typeface="Arial"/>
                <a:buChar char="•"/>
              </a:pPr>
              <a:r>
                <a:rPr lang="en-US" sz="241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Attacker logs in as admin (via earlier SQLi).</a:t>
              </a:r>
            </a:p>
            <a:p>
              <a:pPr algn="l" marL="522000" indent="-261000" lvl="1">
                <a:lnSpc>
                  <a:spcPts val="3384"/>
                </a:lnSpc>
                <a:buFont typeface="Arial"/>
                <a:buChar char="•"/>
              </a:pPr>
              <a:r>
                <a:rPr lang="en-US" sz="241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Injects JavaScript payload (e.g., &lt;script&gt;...&lt;/script&gt;) into a form field.</a:t>
              </a:r>
            </a:p>
            <a:p>
              <a:pPr algn="l" marL="522000" indent="-261000" lvl="1">
                <a:lnSpc>
                  <a:spcPts val="3384"/>
                </a:lnSpc>
                <a:buFont typeface="Arial"/>
                <a:buChar char="•"/>
              </a:pPr>
              <a:r>
                <a:rPr lang="en-US" sz="2417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Other users/admins who load the page unknowingly trigger the script.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530422" y="5138738"/>
            <a:ext cx="7418719" cy="952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7884316" cy="10287000"/>
          </a:xfrm>
          <a:prstGeom prst="rect">
            <a:avLst/>
          </a:prstGeom>
          <a:solidFill>
            <a:srgbClr val="85BFD0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1214910" y="4119425"/>
            <a:ext cx="5435446" cy="211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73"/>
              </a:lnSpc>
            </a:pPr>
            <a:r>
              <a:rPr lang="en-US" b="true" sz="7521">
                <a:solidFill>
                  <a:srgbClr val="22191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of Stored XSS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023034" y="1297970"/>
            <a:ext cx="7020215" cy="3349737"/>
            <a:chOff x="0" y="0"/>
            <a:chExt cx="9360286" cy="446631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360286" cy="661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0"/>
                </a:lnSpc>
              </a:pPr>
              <a:r>
                <a:rPr lang="en-US" b="true" sz="3275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Potential Impact: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984272"/>
              <a:ext cx="9360286" cy="3482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3076" indent="-271538" lvl="1">
                <a:lnSpc>
                  <a:spcPts val="3521"/>
                </a:lnSpc>
                <a:buFont typeface="Arial"/>
                <a:buChar char="•"/>
              </a:pPr>
              <a:r>
                <a:rPr lang="en-US" sz="251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Session Hijacking – steal cookies, impersonate users.</a:t>
              </a:r>
            </a:p>
            <a:p>
              <a:pPr algn="l" marL="543076" indent="-271538" lvl="1">
                <a:lnSpc>
                  <a:spcPts val="3521"/>
                </a:lnSpc>
                <a:buFont typeface="Arial"/>
                <a:buChar char="•"/>
              </a:pPr>
              <a:r>
                <a:rPr lang="en-US" sz="251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Credential Theft – capture form inputs.</a:t>
              </a:r>
            </a:p>
            <a:p>
              <a:pPr algn="l" marL="543076" indent="-271538" lvl="1">
                <a:lnSpc>
                  <a:spcPts val="3521"/>
                </a:lnSpc>
                <a:buFont typeface="Arial"/>
                <a:buChar char="•"/>
              </a:pPr>
              <a:r>
                <a:rPr lang="en-US" sz="251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Browser Exploitation – redirect, install malware.</a:t>
              </a:r>
            </a:p>
            <a:p>
              <a:pPr algn="l" marL="543076" indent="-271538" lvl="1">
                <a:lnSpc>
                  <a:spcPts val="3521"/>
                </a:lnSpc>
                <a:buFont typeface="Arial"/>
                <a:buChar char="•"/>
              </a:pPr>
              <a:r>
                <a:rPr lang="en-US" sz="251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Wider Attack Surface – pivot to other users.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23034" y="6276191"/>
            <a:ext cx="7143231" cy="2127543"/>
            <a:chOff x="0" y="0"/>
            <a:chExt cx="9524308" cy="283672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524308" cy="673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99"/>
                </a:lnSpc>
              </a:pPr>
              <a:r>
                <a:rPr lang="en-US" b="true" sz="333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Root Cause: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12046"/>
              <a:ext cx="9524308" cy="18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72772" indent="-286386" lvl="1">
                <a:lnSpc>
                  <a:spcPts val="3714"/>
                </a:lnSpc>
                <a:buFont typeface="Arial"/>
                <a:buChar char="•"/>
              </a:pPr>
              <a:r>
                <a:rPr lang="en-US" sz="2652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No input validation or output encoding.</a:t>
              </a:r>
            </a:p>
            <a:p>
              <a:pPr algn="l" marL="572772" indent="-286386" lvl="1">
                <a:lnSpc>
                  <a:spcPts val="3714"/>
                </a:lnSpc>
                <a:buFont typeface="Arial"/>
                <a:buChar char="•"/>
              </a:pPr>
              <a:r>
                <a:rPr lang="en-US" sz="2652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Admin inputs were implicitly trusted.</a:t>
              </a:r>
            </a:p>
            <a:p>
              <a:pPr algn="l" marL="572772" indent="-286386" lvl="1">
                <a:lnSpc>
                  <a:spcPts val="3714"/>
                </a:lnSpc>
                <a:buFont typeface="Arial"/>
                <a:buChar char="•"/>
              </a:pPr>
              <a:r>
                <a:rPr lang="en-US" sz="2652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No Content Security Policy (CSP).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0" y="1364645"/>
            <a:ext cx="140278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6999">
                <a:solidFill>
                  <a:srgbClr val="FFFFFF">
                    <a:alpha val="49804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6342866"/>
            <a:ext cx="140278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6999">
                <a:solidFill>
                  <a:srgbClr val="FFFFFF">
                    <a:alpha val="49804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48352"/>
            <a:ext cx="18288000" cy="237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Exploitation 4 – Manual</a:t>
            </a:r>
            <a:r>
              <a:rPr lang="en-US" b="true" sz="6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SQL Injection Attack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1445" y="2867025"/>
            <a:ext cx="13073202" cy="695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1"/>
              </a:lnSpc>
              <a:spcBef>
                <a:spcPct val="0"/>
              </a:spcBef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Target: search.php Parameter</a:t>
            </a:r>
          </a:p>
          <a:p>
            <a:pPr algn="l">
              <a:lnSpc>
                <a:spcPts val="4221"/>
              </a:lnSpc>
              <a:spcBef>
                <a:spcPct val="0"/>
              </a:spcBef>
            </a:pPr>
          </a:p>
          <a:p>
            <a:pPr algn="l">
              <a:lnSpc>
                <a:spcPts val="4221"/>
              </a:lnSpc>
              <a:spcBef>
                <a:spcPct val="0"/>
              </a:spcBef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Injection Technique:</a:t>
            </a:r>
          </a:p>
          <a:p>
            <a:pPr algn="l" marL="651013" indent="-325506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Manual SQLi via URL parameter (e.g., mary' OR 1=1 --)</a:t>
            </a:r>
          </a:p>
          <a:p>
            <a:pPr algn="l" marL="651013" indent="-325506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Identified number of columns using ORDER BY</a:t>
            </a:r>
          </a:p>
          <a:p>
            <a:pPr algn="l" marL="651013" indent="-325506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Extracted DBMS info: MariaDB, DB user: dbuser, DB name: Staff</a:t>
            </a:r>
          </a:p>
          <a:p>
            <a:pPr algn="l" marL="651013" indent="-325506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Used UNION SELECT to:</a:t>
            </a:r>
          </a:p>
          <a:p>
            <a:pPr algn="l">
              <a:lnSpc>
                <a:spcPts val="4221"/>
              </a:lnSpc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     -List databases → tables → columns</a:t>
            </a:r>
          </a:p>
          <a:p>
            <a:pPr algn="l">
              <a:lnSpc>
                <a:spcPts val="4221"/>
              </a:lnSpc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     -Extract usernames and password hashes from Users table</a:t>
            </a:r>
          </a:p>
          <a:p>
            <a:pPr algn="l">
              <a:lnSpc>
                <a:spcPts val="4221"/>
              </a:lnSpc>
            </a:pPr>
          </a:p>
          <a:p>
            <a:pPr algn="l">
              <a:lnSpc>
                <a:spcPts val="4221"/>
              </a:lnSpc>
              <a:spcBef>
                <a:spcPct val="0"/>
              </a:spcBef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Credentials Recovered:</a:t>
            </a:r>
          </a:p>
          <a:p>
            <a:pPr algn="l" marL="651013" indent="-325506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User: admin</a:t>
            </a:r>
          </a:p>
          <a:p>
            <a:pPr algn="l" marL="651013" indent="-325506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Password: transorbital1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58868"/>
            <a:ext cx="5784164" cy="323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15"/>
              </a:lnSpc>
              <a:spcBef>
                <a:spcPct val="0"/>
              </a:spcBef>
            </a:pPr>
            <a:r>
              <a:rPr lang="en-US" b="true" sz="7650" u="non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&amp; Exploitation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48395" y="2359790"/>
            <a:ext cx="635238" cy="112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32"/>
              </a:lnSpc>
              <a:spcBef>
                <a:spcPct val="0"/>
              </a:spcBef>
            </a:pPr>
            <a:r>
              <a:rPr lang="en-US" b="true" sz="784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48395" y="4842259"/>
            <a:ext cx="635238" cy="112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32"/>
              </a:lnSpc>
              <a:spcBef>
                <a:spcPct val="0"/>
              </a:spcBef>
            </a:pPr>
            <a:r>
              <a:rPr lang="en-US" b="true" sz="784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48395" y="7251190"/>
            <a:ext cx="635238" cy="112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32"/>
              </a:lnSpc>
              <a:spcBef>
                <a:spcPct val="0"/>
              </a:spcBef>
            </a:pPr>
            <a:r>
              <a:rPr lang="en-US" b="true" sz="784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66424" y="1961165"/>
            <a:ext cx="9721576" cy="2096552"/>
            <a:chOff x="0" y="0"/>
            <a:chExt cx="12962101" cy="279540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223960"/>
              <a:ext cx="12962101" cy="1571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6938" indent="-243469" lvl="1">
                <a:lnSpc>
                  <a:spcPts val="31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5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Full access to backend admin panel</a:t>
              </a:r>
            </a:p>
            <a:p>
              <a:pPr algn="l" marL="486938" indent="-243469" lvl="1">
                <a:lnSpc>
                  <a:spcPts val="31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5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Credential compromise (hashes and plaintext)</a:t>
              </a:r>
            </a:p>
            <a:p>
              <a:pPr algn="l" marL="486938" indent="-243469" lvl="1">
                <a:lnSpc>
                  <a:spcPts val="31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5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Foundation for XSS, LFI, and privilege escalation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8100"/>
              <a:ext cx="12962101" cy="892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02"/>
                </a:lnSpc>
                <a:spcBef>
                  <a:spcPct val="0"/>
                </a:spcBef>
              </a:pPr>
              <a:r>
                <a:rPr lang="en-US" b="true" sz="4638" u="non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Exploitation Impact: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66424" y="4325529"/>
            <a:ext cx="9721576" cy="2096552"/>
            <a:chOff x="0" y="0"/>
            <a:chExt cx="12962101" cy="279540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223960"/>
              <a:ext cx="12962101" cy="1571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6938" indent="-243469" lvl="1">
                <a:lnSpc>
                  <a:spcPts val="31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5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Browser + Manual Payloads</a:t>
              </a:r>
            </a:p>
            <a:p>
              <a:pPr algn="l" marL="486938" indent="-243469" lvl="1">
                <a:lnSpc>
                  <a:spcPts val="31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5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Sqlmap for automation (in other sections)</a:t>
              </a:r>
            </a:p>
            <a:p>
              <a:pPr algn="l" marL="486938" indent="-243469" lvl="1">
                <a:lnSpc>
                  <a:spcPts val="31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5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CrackStation to break password hashes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8100"/>
              <a:ext cx="12962101" cy="892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02"/>
                </a:lnSpc>
                <a:spcBef>
                  <a:spcPct val="0"/>
                </a:spcBef>
              </a:pPr>
              <a:r>
                <a:rPr lang="en-US" b="true" sz="4638" u="non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Tools Used: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66424" y="6926103"/>
            <a:ext cx="12368421" cy="1371661"/>
            <a:chOff x="0" y="0"/>
            <a:chExt cx="16491228" cy="182888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287587"/>
              <a:ext cx="16491228" cy="541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8"/>
                </a:lnSpc>
                <a:spcBef>
                  <a:spcPct val="0"/>
                </a:spcBef>
              </a:pPr>
              <a:r>
                <a:rPr lang="en-US" sz="2470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Admin login successful → Access to protected admin features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7625"/>
              <a:ext cx="16491228" cy="963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76"/>
                </a:lnSpc>
                <a:spcBef>
                  <a:spcPct val="0"/>
                </a:spcBef>
              </a:pPr>
              <a:r>
                <a:rPr lang="en-US" b="true" sz="4978" u="non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Result: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0">
            <a:off x="7748395" y="4150099"/>
            <a:ext cx="1318645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0">
            <a:off x="7748395" y="1623048"/>
            <a:ext cx="129995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0">
            <a:off x="7748395" y="6587986"/>
            <a:ext cx="13440897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5400000">
            <a:off x="3411657" y="5950262"/>
            <a:ext cx="866395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846955"/>
            <a:chOff x="0" y="0"/>
            <a:chExt cx="386396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63961" cy="812800"/>
            </a:xfrm>
            <a:custGeom>
              <a:avLst/>
              <a:gdLst/>
              <a:ahLst/>
              <a:cxnLst/>
              <a:rect r="r" b="b" t="t" l="l"/>
              <a:pathLst>
                <a:path h="812800" w="3863961">
                  <a:moveTo>
                    <a:pt x="0" y="0"/>
                  </a:moveTo>
                  <a:lnTo>
                    <a:pt x="3863961" y="0"/>
                  </a:lnTo>
                  <a:lnTo>
                    <a:pt x="386396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12523" r="0" b="-1125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593704" y="1737300"/>
            <a:ext cx="13100592" cy="951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04"/>
              </a:lnSpc>
              <a:spcBef>
                <a:spcPct val="0"/>
              </a:spcBef>
            </a:pPr>
            <a:r>
              <a:rPr lang="en-US" b="true" sz="7104" u="non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Mitigation Recommendations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2723" y="4357377"/>
            <a:ext cx="5775162" cy="243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Secure Coding &amp; Input Validation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prepared statements, sanitize inputs, and apply Content Security Policy to prevent SQLi and XSS.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36001" y="4357377"/>
            <a:ext cx="5733916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System Hardening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Audit sudoers, restrict privileges, disable dangerous PHP functions, and secure SSH with key-based authentication.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2723" y="7891326"/>
            <a:ext cx="7222803" cy="177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279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Monitoring &amp; Testing</a:t>
            </a: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279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Implement file integrity monitoring, centralized logging, and conduct regular penetration tests.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93666" y="7891326"/>
            <a:ext cx="5476252" cy="177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279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User Awareness &amp; Training</a:t>
            </a: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279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Educate staff on security best practices and simulate phishing to improve resilience.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1999" y="271999"/>
            <a:ext cx="7908899" cy="9743002"/>
            <a:chOff x="0" y="0"/>
            <a:chExt cx="812800" cy="10012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001291"/>
            </a:xfrm>
            <a:custGeom>
              <a:avLst/>
              <a:gdLst/>
              <a:ahLst/>
              <a:cxnLst/>
              <a:rect r="r" b="b" t="t" l="l"/>
              <a:pathLst>
                <a:path h="100129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1291"/>
                  </a:lnTo>
                  <a:lnTo>
                    <a:pt x="0" y="1001291"/>
                  </a:lnTo>
                  <a:close/>
                </a:path>
              </a:pathLst>
            </a:custGeom>
            <a:blipFill>
              <a:blip r:embed="rId2"/>
              <a:stretch>
                <a:fillRect l="-73190" t="0" r="-7319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56123" y="335403"/>
            <a:ext cx="8384422" cy="9354938"/>
            <a:chOff x="0" y="0"/>
            <a:chExt cx="11179230" cy="124732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61667" y="-9525"/>
              <a:ext cx="10356836" cy="305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</a:pPr>
              <a:r>
                <a:rPr lang="en-US" b="true" sz="7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Conclusion and Next Steps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61667" y="3957689"/>
              <a:ext cx="10356836" cy="8515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7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The penetration test of the DC-9 machine revealed critical vulnerabilities enabling full system compromise through web and system-level exploits. These findings emphasize the urgent need for secure coding, proper system configuration, and proactive security measures.</a:t>
              </a:r>
            </a:p>
            <a:p>
              <a:pPr algn="l" marL="0" indent="0" lvl="0">
                <a:lnSpc>
                  <a:spcPts val="3639"/>
                </a:lnSpc>
              </a:pPr>
            </a:p>
            <a:p>
              <a:pPr algn="l" marL="0" indent="0" lvl="0">
                <a:lnSpc>
                  <a:spcPts val="3639"/>
                </a:lnSpc>
              </a:pPr>
              <a:r>
                <a:rPr lang="en-US" sz="27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Implementing the detailed recommendations will significantly reduce risks of data breaches, unauthorized access, and persistent threats. Regular security assessments and user training are essential to maintain a strong defense against evolving cyber threats.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0" y="3469053"/>
              <a:ext cx="11179230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E0F10">
                <a:alpha val="100000"/>
              </a:srgbClr>
            </a:gs>
            <a:gs pos="50000">
              <a:srgbClr val="22191F">
                <a:alpha val="100000"/>
              </a:srgbClr>
            </a:gs>
            <a:gs pos="100000">
              <a:srgbClr val="321F1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80168" y="8286338"/>
            <a:ext cx="6721628" cy="0"/>
          </a:xfrm>
          <a:prstGeom prst="line">
            <a:avLst/>
          </a:prstGeom>
          <a:ln cap="flat" w="19050">
            <a:solidFill>
              <a:srgbClr val="FE41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2937442"/>
            <a:ext cx="6721628" cy="0"/>
          </a:xfrm>
          <a:prstGeom prst="line">
            <a:avLst/>
          </a:prstGeom>
          <a:ln cap="flat" w="19050">
            <a:solidFill>
              <a:srgbClr val="FE41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467822" y="6390277"/>
            <a:ext cx="5976563" cy="145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 appreciate you joining us today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7822" y="3099367"/>
            <a:ext cx="7133974" cy="2797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b="true" sz="8000" spc="16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IN ADVANCE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467822" y="958898"/>
            <a:ext cx="921692" cy="1144959"/>
          </a:xfrm>
          <a:custGeom>
            <a:avLst/>
            <a:gdLst/>
            <a:ahLst/>
            <a:cxnLst/>
            <a:rect r="r" b="b" t="t" l="l"/>
            <a:pathLst>
              <a:path h="1144959" w="921692">
                <a:moveTo>
                  <a:pt x="0" y="0"/>
                </a:moveTo>
                <a:lnTo>
                  <a:pt x="921692" y="0"/>
                </a:lnTo>
                <a:lnTo>
                  <a:pt x="921692" y="1144959"/>
                </a:lnTo>
                <a:lnTo>
                  <a:pt x="0" y="1144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373470" y="3831137"/>
            <a:ext cx="3222395" cy="5427163"/>
            <a:chOff x="0" y="0"/>
            <a:chExt cx="848697" cy="14293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8697" cy="1429376"/>
            </a:xfrm>
            <a:custGeom>
              <a:avLst/>
              <a:gdLst/>
              <a:ahLst/>
              <a:cxnLst/>
              <a:rect r="r" b="b" t="t" l="l"/>
              <a:pathLst>
                <a:path h="1429376" w="848697">
                  <a:moveTo>
                    <a:pt x="0" y="0"/>
                  </a:moveTo>
                  <a:lnTo>
                    <a:pt x="848697" y="0"/>
                  </a:lnTo>
                  <a:lnTo>
                    <a:pt x="848697" y="1429376"/>
                  </a:lnTo>
                  <a:lnTo>
                    <a:pt x="0" y="1429376"/>
                  </a:lnTo>
                  <a:close/>
                </a:path>
              </a:pathLst>
            </a:custGeom>
            <a:solidFill>
              <a:srgbClr val="FE41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48697" cy="1467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832603" y="-570044"/>
            <a:ext cx="5426697" cy="5653847"/>
            <a:chOff x="0" y="0"/>
            <a:chExt cx="944881" cy="984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4881" cy="984432"/>
            </a:xfrm>
            <a:custGeom>
              <a:avLst/>
              <a:gdLst/>
              <a:ahLst/>
              <a:cxnLst/>
              <a:rect r="r" b="b" t="t" l="l"/>
              <a:pathLst>
                <a:path h="984432" w="944881">
                  <a:moveTo>
                    <a:pt x="0" y="0"/>
                  </a:moveTo>
                  <a:lnTo>
                    <a:pt x="944881" y="0"/>
                  </a:lnTo>
                  <a:lnTo>
                    <a:pt x="944881" y="984432"/>
                  </a:lnTo>
                  <a:lnTo>
                    <a:pt x="0" y="984432"/>
                  </a:lnTo>
                  <a:close/>
                </a:path>
              </a:pathLst>
            </a:custGeom>
            <a:blipFill>
              <a:blip r:embed="rId4"/>
              <a:stretch>
                <a:fillRect l="-28188" t="0" r="-28188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DAGnQeI5Tyw</dc:identifier>
  <dcterms:modified xsi:type="dcterms:W3CDTF">2011-08-01T06:04:30Z</dcterms:modified>
  <cp:revision>1</cp:revision>
  <dc:title>Security</dc:title>
</cp:coreProperties>
</file>